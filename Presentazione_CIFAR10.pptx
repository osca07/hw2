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67" r:id="rId4"/>
    <p:sldId id="258" r:id="rId5"/>
    <p:sldId id="260" r:id="rId6"/>
    <p:sldId id="264" r:id="rId7"/>
    <p:sldId id="265" r:id="rId8"/>
    <p:sldId id="266" r:id="rId9"/>
    <p:sldId id="262" r:id="rId10"/>
    <p:sldId id="268" r:id="rId11"/>
    <p:sldId id="263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1426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62000"/>
            <a:ext cx="6856214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952697" y="762000"/>
            <a:ext cx="2193989" cy="5334001"/>
          </a:xfrm>
          <a:prstGeom prst="rect">
            <a:avLst/>
          </a:prstGeom>
          <a:solidFill>
            <a:srgbClr val="C3C3C3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86" y="1298448"/>
            <a:ext cx="5486400" cy="3255264"/>
          </a:xfrm>
        </p:spPr>
        <p:txBody>
          <a:bodyPr anchor="b">
            <a:normAutofit/>
          </a:bodyPr>
          <a:lstStyle>
            <a:lvl1pPr algn="l">
              <a:defRPr sz="5400" spc="-100" baseline="0">
                <a:solidFill>
                  <a:srgbClr val="FFFFFF"/>
                </a:solidFill>
              </a:defRPr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11" y="4670246"/>
            <a:ext cx="54864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it-IT" smtClean="0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9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001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0934" y="1298448"/>
            <a:ext cx="5486400" cy="3255264"/>
          </a:xfrm>
        </p:spPr>
        <p:txBody>
          <a:bodyPr anchor="b">
            <a:normAutofit/>
          </a:bodyPr>
          <a:lstStyle>
            <a:lvl1pPr>
              <a:defRPr sz="54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14650" y="4672584"/>
            <a:ext cx="54864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0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1273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900934" y="868680"/>
            <a:ext cx="2606040" cy="5120640"/>
          </a:xfrm>
        </p:spPr>
        <p:txBody>
          <a:bodyPr/>
          <a:lstStyle>
            <a:lvl1pPr>
              <a:defRPr sz="1900"/>
            </a:lvl1pPr>
            <a:lvl2pPr>
              <a:defRPr sz="17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63590" y="868680"/>
            <a:ext cx="2606040" cy="5120640"/>
          </a:xfrm>
        </p:spPr>
        <p:txBody>
          <a:bodyPr/>
          <a:lstStyle>
            <a:lvl1pPr>
              <a:defRPr sz="1900"/>
            </a:lvl1pPr>
            <a:lvl2pPr>
              <a:defRPr sz="17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265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00934" y="1023586"/>
            <a:ext cx="260604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9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00934" y="1930936"/>
            <a:ext cx="2606040" cy="4023360"/>
          </a:xfrm>
        </p:spPr>
        <p:txBody>
          <a:bodyPr/>
          <a:lstStyle>
            <a:lvl1pPr>
              <a:defRPr sz="1900"/>
            </a:lvl1pPr>
            <a:lvl2pPr>
              <a:defRPr sz="17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63847" y="1023587"/>
            <a:ext cx="260604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9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63847" y="1930936"/>
            <a:ext cx="2606040" cy="4023360"/>
          </a:xfrm>
        </p:spPr>
        <p:txBody>
          <a:bodyPr/>
          <a:lstStyle>
            <a:lvl1pPr>
              <a:defRPr sz="1900"/>
            </a:lvl1pPr>
            <a:lvl2pPr>
              <a:defRPr sz="17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521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599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2764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" y="1143000"/>
            <a:ext cx="2125980" cy="2194560"/>
          </a:xfrm>
        </p:spPr>
        <p:txBody>
          <a:bodyPr anchor="b">
            <a:normAutofit/>
          </a:bodyPr>
          <a:lstStyle>
            <a:lvl1pPr>
              <a:defRPr sz="2800" b="0" baseline="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0934" y="868680"/>
            <a:ext cx="54864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" y="3337560"/>
            <a:ext cx="2125980" cy="256032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25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2163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" y="1143000"/>
            <a:ext cx="2125980" cy="21945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677983" y="767419"/>
            <a:ext cx="6086423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 smtClean="0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" y="3340602"/>
            <a:ext cx="2125980" cy="256032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25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2624326" y="6356351"/>
            <a:ext cx="443363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477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911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85750" y="990600"/>
            <a:ext cx="2114550" cy="4953000"/>
          </a:xfrm>
        </p:spPr>
        <p:txBody>
          <a:bodyPr vert="eaVert"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00934" y="868680"/>
            <a:ext cx="5486400" cy="5120640"/>
          </a:xfrm>
        </p:spPr>
        <p:txBody>
          <a:bodyPr vert="eaVert" anchor="t"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977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2582693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8861898" y="758952"/>
            <a:ext cx="288036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01951" y="864108"/>
            <a:ext cx="54864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6849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01951" y="6356351"/>
            <a:ext cx="4433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75602" y="6356351"/>
            <a:ext cx="11481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 b="1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804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19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7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5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3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3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3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3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3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3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dirty="0" err="1">
                <a:latin typeface="Verdana" panose="020B0604030504040204" pitchFamily="34" charset="0"/>
                <a:ea typeface="Verdana" panose="020B0604030504040204" pitchFamily="34" charset="0"/>
              </a:rPr>
              <a:t>Classificazione</a:t>
            </a:r>
            <a:r>
              <a:rPr dirty="0">
                <a:latin typeface="Verdana" panose="020B0604030504040204" pitchFamily="34" charset="0"/>
                <a:ea typeface="Verdana" panose="020B0604030504040204" pitchFamily="34" charset="0"/>
              </a:rPr>
              <a:t> CIFAR-10 con </a:t>
            </a:r>
            <a:r>
              <a:rPr dirty="0" err="1">
                <a:latin typeface="Verdana" panose="020B0604030504040204" pitchFamily="34" charset="0"/>
                <a:ea typeface="Verdana" panose="020B0604030504040204" pitchFamily="34" charset="0"/>
              </a:rPr>
              <a:t>modelli</a:t>
            </a:r>
            <a:r>
              <a:rPr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dirty="0" smtClean="0">
                <a:latin typeface="Verdana" panose="020B0604030504040204" pitchFamily="34" charset="0"/>
                <a:ea typeface="Verdana" panose="020B0604030504040204" pitchFamily="34" charset="0"/>
              </a:rPr>
              <a:t>di </a:t>
            </a:r>
            <a:r>
              <a:rPr dirty="0">
                <a:latin typeface="Verdana" panose="020B0604030504040204" pitchFamily="34" charset="0"/>
                <a:ea typeface="Verdana" panose="020B0604030504040204" pitchFamily="34" charset="0"/>
              </a:rPr>
              <a:t>Machine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 smtClean="0">
                <a:latin typeface="Verdana" panose="020B0604030504040204" pitchFamily="34" charset="0"/>
                <a:ea typeface="Verdana" panose="020B0604030504040204" pitchFamily="34" charset="0"/>
              </a:rPr>
              <a:t>Oscar Torrisi</a:t>
            </a:r>
            <a:endParaRPr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Verdana" panose="020B0604030504040204" pitchFamily="34" charset="0"/>
                <a:ea typeface="Verdana" panose="020B0604030504040204" pitchFamily="34" charset="0"/>
              </a:rPr>
              <a:t>Descrizione</a:t>
            </a:r>
            <a:r>
              <a:rPr dirty="0">
                <a:latin typeface="Verdana" panose="020B0604030504040204" pitchFamily="34" charset="0"/>
                <a:ea typeface="Verdana" panose="020B0604030504040204" pitchFamily="34" charset="0"/>
              </a:rPr>
              <a:t> del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1951" y="1037844"/>
            <a:ext cx="5486400" cy="5120640"/>
          </a:xfrm>
        </p:spPr>
        <p:txBody>
          <a:bodyPr>
            <a:normAutofit fontScale="92500" lnSpcReduction="10000"/>
          </a:bodyPr>
          <a:lstStyle/>
          <a:p>
            <a:r>
              <a:rPr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Dataset</a:t>
            </a:r>
            <a:r>
              <a:rPr sz="2000" dirty="0">
                <a:latin typeface="Verdana" panose="020B0604030504040204" pitchFamily="34" charset="0"/>
                <a:ea typeface="Verdana" panose="020B0604030504040204" pitchFamily="34" charset="0"/>
              </a:rPr>
              <a:t>: </a:t>
            </a:r>
            <a:r>
              <a:rPr sz="2000" b="1" dirty="0">
                <a:latin typeface="Verdana" panose="020B0604030504040204" pitchFamily="34" charset="0"/>
                <a:ea typeface="Verdana" panose="020B0604030504040204" pitchFamily="34" charset="0"/>
              </a:rPr>
              <a:t>CIFAR-10</a:t>
            </a:r>
          </a:p>
          <a:p>
            <a:r>
              <a:rPr lang="it-IT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Fonte: https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://www.cs.toronto.edu/~kriz/cifar.html</a:t>
            </a:r>
            <a:endParaRPr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sz="20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60.000 </a:t>
            </a:r>
            <a:r>
              <a:rPr sz="2000" b="1" dirty="0" err="1">
                <a:latin typeface="Verdana" panose="020B0604030504040204" pitchFamily="34" charset="0"/>
                <a:ea typeface="Verdana" panose="020B0604030504040204" pitchFamily="34" charset="0"/>
              </a:rPr>
              <a:t>immagini</a:t>
            </a:r>
            <a:r>
              <a:rPr sz="20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sz="2000" dirty="0">
                <a:latin typeface="Verdana" panose="020B0604030504040204" pitchFamily="34" charset="0"/>
                <a:ea typeface="Verdana" panose="020B0604030504040204" pitchFamily="34" charset="0"/>
              </a:rPr>
              <a:t>RGB (32x32 </a:t>
            </a:r>
            <a:r>
              <a:rPr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px</a:t>
            </a:r>
            <a:r>
              <a:rPr sz="2000" dirty="0">
                <a:latin typeface="Verdana" panose="020B0604030504040204" pitchFamily="34" charset="0"/>
                <a:ea typeface="Verdana" panose="020B0604030504040204" pitchFamily="34" charset="0"/>
              </a:rPr>
              <a:t>) in </a:t>
            </a:r>
            <a:r>
              <a:rPr sz="2000" b="1" dirty="0">
                <a:latin typeface="Verdana" panose="020B0604030504040204" pitchFamily="34" charset="0"/>
                <a:ea typeface="Verdana" panose="020B0604030504040204" pitchFamily="34" charset="0"/>
              </a:rPr>
              <a:t>10 </a:t>
            </a:r>
            <a:r>
              <a:rPr sz="2000" b="1" dirty="0" err="1">
                <a:latin typeface="Verdana" panose="020B0604030504040204" pitchFamily="34" charset="0"/>
                <a:ea typeface="Verdana" panose="020B0604030504040204" pitchFamily="34" charset="0"/>
              </a:rPr>
              <a:t>classi</a:t>
            </a:r>
            <a:endParaRPr sz="20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50.000 </a:t>
            </a:r>
            <a:r>
              <a:rPr sz="2000" dirty="0" err="1">
                <a:latin typeface="Verdana" panose="020B0604030504040204" pitchFamily="34" charset="0"/>
                <a:ea typeface="Verdana" panose="020B0604030504040204" pitchFamily="34" charset="0"/>
              </a:rPr>
              <a:t>immagini</a:t>
            </a:r>
            <a:r>
              <a:rPr sz="2000" dirty="0">
                <a:latin typeface="Verdana" panose="020B0604030504040204" pitchFamily="34" charset="0"/>
                <a:ea typeface="Verdana" panose="020B0604030504040204" pitchFamily="34" charset="0"/>
              </a:rPr>
              <a:t> di training, 10.000 di </a:t>
            </a:r>
            <a:r>
              <a:rPr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test</a:t>
            </a:r>
            <a:endParaRPr lang="it-IT" sz="2000" dirty="0" smtClean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it-IT" sz="20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Dataset</a:t>
            </a:r>
            <a:r>
              <a:rPr lang="it-IT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 composto da </a:t>
            </a:r>
            <a:r>
              <a:rPr lang="it-IT" sz="20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5 file </a:t>
            </a:r>
            <a:r>
              <a:rPr lang="it-IT" sz="20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data_batch</a:t>
            </a:r>
            <a:r>
              <a:rPr lang="it-IT" sz="20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(esempi per il training) e </a:t>
            </a:r>
            <a:r>
              <a:rPr lang="it-IT" sz="20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1 file </a:t>
            </a:r>
            <a:r>
              <a:rPr lang="it-IT" sz="20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test_batch</a:t>
            </a:r>
            <a:r>
              <a:rPr lang="it-IT" sz="20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per la valutazione finale</a:t>
            </a:r>
          </a:p>
          <a:p>
            <a:r>
              <a:rPr lang="it-IT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Nel training set ci sono, complessivamente, 5000 esempi per classe, distribuite casualmente tra i file </a:t>
            </a:r>
            <a:r>
              <a:rPr lang="it-IT" sz="20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data_batch</a:t>
            </a:r>
            <a:endParaRPr lang="it-IT" sz="2000" dirty="0" smtClean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it-IT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Nel test set ci sono 1000 esempi per classe</a:t>
            </a:r>
            <a:endParaRPr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endParaRPr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smtClean="0">
                <a:latin typeface="Verdana" panose="020B0604030504040204" pitchFamily="34" charset="0"/>
                <a:ea typeface="Verdana" panose="020B0604030504040204" pitchFamily="34" charset="0"/>
              </a:rPr>
              <a:t>CIFAR10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Segnaposto contenuto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8044" y="1508760"/>
            <a:ext cx="5997900" cy="4531077"/>
          </a:xfrm>
        </p:spPr>
      </p:pic>
      <p:sp>
        <p:nvSpPr>
          <p:cNvPr id="5" name="CasellaDiTesto 4"/>
          <p:cNvSpPr txBox="1"/>
          <p:nvPr/>
        </p:nvSpPr>
        <p:spPr>
          <a:xfrm>
            <a:off x="3044952" y="893005"/>
            <a:ext cx="4828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Esempio </a:t>
            </a:r>
            <a:r>
              <a:rPr lang="it-IT" sz="24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dataset</a:t>
            </a:r>
            <a:endParaRPr lang="it-IT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4480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Verdana" panose="020B0604030504040204" pitchFamily="34" charset="0"/>
                <a:ea typeface="Verdana" panose="020B0604030504040204" pitchFamily="34" charset="0"/>
              </a:rPr>
              <a:t>Obiettivo</a:t>
            </a:r>
            <a:r>
              <a:rPr dirty="0">
                <a:latin typeface="Verdana" panose="020B0604030504040204" pitchFamily="34" charset="0"/>
                <a:ea typeface="Verdana" panose="020B0604030504040204" pitchFamily="34" charset="0"/>
              </a:rPr>
              <a:t> del </a:t>
            </a:r>
            <a:r>
              <a:rPr dirty="0" err="1">
                <a:latin typeface="Verdana" panose="020B0604030504040204" pitchFamily="34" charset="0"/>
                <a:ea typeface="Verdana" panose="020B0604030504040204" pitchFamily="34" charset="0"/>
              </a:rPr>
              <a:t>Progetto</a:t>
            </a:r>
            <a:endParaRPr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18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Confrontare</a:t>
            </a:r>
            <a:r>
              <a:rPr sz="18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18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i</a:t>
            </a:r>
            <a:r>
              <a:rPr lang="it-IT" sz="1800" dirty="0" smtClean="0">
                <a:latin typeface="Verdana" panose="020B0604030504040204" pitchFamily="34" charset="0"/>
                <a:ea typeface="Verdana" panose="020B0604030504040204" pitchFamily="34" charset="0"/>
              </a:rPr>
              <a:t> seguenti </a:t>
            </a:r>
            <a:r>
              <a:rPr lang="it-IT" sz="18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modelli sul </a:t>
            </a:r>
            <a:r>
              <a:rPr lang="it-IT" sz="18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dataset</a:t>
            </a:r>
            <a:r>
              <a:rPr lang="it-IT" sz="18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1800" dirty="0" smtClean="0">
                <a:latin typeface="Verdana" panose="020B0604030504040204" pitchFamily="34" charset="0"/>
                <a:ea typeface="Verdana" panose="020B0604030504040204" pitchFamily="34" charset="0"/>
              </a:rPr>
              <a:t>scelto: </a:t>
            </a:r>
            <a:r>
              <a:rPr sz="1800" dirty="0" smtClean="0">
                <a:latin typeface="Verdana" panose="020B0604030504040204" pitchFamily="34" charset="0"/>
                <a:ea typeface="Verdana" panose="020B0604030504040204" pitchFamily="34" charset="0"/>
              </a:rPr>
              <a:t>Regression</a:t>
            </a:r>
            <a:r>
              <a:rPr lang="it-IT" sz="1800" dirty="0" smtClean="0">
                <a:latin typeface="Verdana" panose="020B0604030504040204" pitchFamily="34" charset="0"/>
                <a:ea typeface="Verdana" panose="020B0604030504040204" pitchFamily="34" charset="0"/>
              </a:rPr>
              <a:t>e Logistica</a:t>
            </a:r>
            <a:r>
              <a:rPr sz="1800" dirty="0" smtClean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sz="1800" dirty="0">
                <a:latin typeface="Verdana" panose="020B0604030504040204" pitchFamily="34" charset="0"/>
                <a:ea typeface="Verdana" panose="020B0604030504040204" pitchFamily="34" charset="0"/>
              </a:rPr>
              <a:t>SVM, </a:t>
            </a:r>
            <a:r>
              <a:rPr lang="it-IT" sz="1800" dirty="0" smtClean="0">
                <a:latin typeface="Verdana" panose="020B0604030504040204" pitchFamily="34" charset="0"/>
                <a:ea typeface="Verdana" panose="020B0604030504040204" pitchFamily="34" charset="0"/>
              </a:rPr>
              <a:t>K</a:t>
            </a:r>
            <a:r>
              <a:rPr sz="1800" dirty="0" smtClean="0">
                <a:latin typeface="Verdana" panose="020B0604030504040204" pitchFamily="34" charset="0"/>
                <a:ea typeface="Verdana" panose="020B0604030504040204" pitchFamily="34" charset="0"/>
              </a:rPr>
              <a:t>-NN</a:t>
            </a:r>
            <a:r>
              <a:rPr sz="18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it-IT" sz="1800" dirty="0" smtClean="0">
                <a:latin typeface="Verdana" panose="020B0604030504040204" pitchFamily="34" charset="0"/>
                <a:ea typeface="Verdana" panose="020B0604030504040204" pitchFamily="34" charset="0"/>
              </a:rPr>
              <a:t>Albero decisionale</a:t>
            </a:r>
            <a:endParaRPr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it-IT" sz="18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Ricerca del modello migliore</a:t>
            </a:r>
            <a:r>
              <a:rPr lang="it-IT" sz="1800" dirty="0" smtClean="0">
                <a:latin typeface="Verdana" panose="020B0604030504040204" pitchFamily="34" charset="0"/>
                <a:ea typeface="Verdana" panose="020B0604030504040204" pitchFamily="34" charset="0"/>
              </a:rPr>
              <a:t>, settati con gli opportuni </a:t>
            </a:r>
            <a:r>
              <a:rPr lang="it-IT" sz="18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iperparametri</a:t>
            </a:r>
            <a:r>
              <a:rPr lang="it-IT" sz="1800" dirty="0" smtClean="0">
                <a:latin typeface="Verdana" panose="020B0604030504040204" pitchFamily="34" charset="0"/>
                <a:ea typeface="Verdana" panose="020B0604030504040204" pitchFamily="34" charset="0"/>
              </a:rPr>
              <a:t> (scelti da una lista di </a:t>
            </a:r>
            <a:r>
              <a:rPr lang="it-IT" sz="18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iperparametri</a:t>
            </a:r>
            <a:r>
              <a:rPr lang="it-IT" sz="1800" dirty="0">
                <a:latin typeface="Verdana" panose="020B0604030504040204" pitchFamily="34" charset="0"/>
                <a:ea typeface="Verdana" panose="020B0604030504040204" pitchFamily="34" charset="0"/>
              </a:rPr>
              <a:t>)</a:t>
            </a:r>
            <a:r>
              <a:rPr lang="it-IT" sz="1800" dirty="0" smtClean="0">
                <a:latin typeface="Verdana" panose="020B0604030504040204" pitchFamily="34" charset="0"/>
                <a:ea typeface="Verdana" panose="020B0604030504040204" pitchFamily="34" charset="0"/>
              </a:rPr>
              <a:t> tramite </a:t>
            </a:r>
            <a:r>
              <a:rPr lang="it-IT" sz="18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GridSearchCV</a:t>
            </a:r>
            <a:endParaRPr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sz="18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Valutazione</a:t>
            </a:r>
            <a:r>
              <a:rPr sz="18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sz="1800" b="1" dirty="0">
                <a:latin typeface="Verdana" panose="020B0604030504040204" pitchFamily="34" charset="0"/>
                <a:ea typeface="Verdana" panose="020B0604030504040204" pitchFamily="34" charset="0"/>
              </a:rPr>
              <a:t>finale </a:t>
            </a:r>
            <a:r>
              <a:rPr sz="18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su</a:t>
            </a:r>
            <a:r>
              <a:rPr lang="it-IT" sz="18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l</a:t>
            </a:r>
            <a:r>
              <a:rPr sz="18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sz="1800" b="1" dirty="0">
                <a:latin typeface="Verdana" panose="020B0604030504040204" pitchFamily="34" charset="0"/>
                <a:ea typeface="Verdana" panose="020B0604030504040204" pitchFamily="34" charset="0"/>
              </a:rPr>
              <a:t>test set</a:t>
            </a:r>
            <a:r>
              <a:rPr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1800" dirty="0" smtClean="0">
                <a:latin typeface="Verdana" panose="020B0604030504040204" pitchFamily="34" charset="0"/>
                <a:ea typeface="Verdana" panose="020B0604030504040204" pitchFamily="34" charset="0"/>
              </a:rPr>
              <a:t>del modello migliore</a:t>
            </a:r>
            <a:endParaRPr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60" y="1123836"/>
            <a:ext cx="2443783" cy="4601183"/>
          </a:xfrm>
        </p:spPr>
        <p:txBody>
          <a:bodyPr/>
          <a:lstStyle/>
          <a:p>
            <a:r>
              <a:rPr dirty="0" err="1">
                <a:latin typeface="Verdana" panose="020B0604030504040204" pitchFamily="34" charset="0"/>
                <a:ea typeface="Verdana" panose="020B0604030504040204" pitchFamily="34" charset="0"/>
              </a:rPr>
              <a:t>Metodologia</a:t>
            </a:r>
            <a:endParaRPr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it-IT" sz="36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Preparazione del </a:t>
            </a:r>
            <a:r>
              <a:rPr lang="it-IT" sz="36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dataset</a:t>
            </a:r>
            <a:endParaRPr lang="it-IT" sz="3600" b="1" dirty="0" smtClean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sz="32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Caricamento</a:t>
            </a:r>
            <a:r>
              <a:rPr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dati del </a:t>
            </a:r>
            <a:r>
              <a:rPr lang="it-IT" sz="32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dataset</a:t>
            </a:r>
            <a:r>
              <a:rPr lang="it-IT"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 su liste di esempi e target di training. </a:t>
            </a:r>
          </a:p>
          <a:p>
            <a:r>
              <a:rPr lang="it-IT"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Unione degli elementi della lista in un unico </a:t>
            </a:r>
            <a:r>
              <a:rPr lang="it-IT" sz="32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dataset</a:t>
            </a:r>
            <a:r>
              <a:rPr lang="it-IT"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 per il training (fatto per gli esempi e per i target)</a:t>
            </a:r>
          </a:p>
          <a:p>
            <a:r>
              <a:rPr lang="it-IT"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Caricamento dati per il test (sia esempi che target)</a:t>
            </a:r>
          </a:p>
          <a:p>
            <a:r>
              <a:rPr lang="it-IT" sz="3200" dirty="0" err="1">
                <a:latin typeface="Verdana" panose="020B0604030504040204" pitchFamily="34" charset="0"/>
                <a:ea typeface="Verdana" panose="020B0604030504040204" pitchFamily="34" charset="0"/>
              </a:rPr>
              <a:t>N</a:t>
            </a:r>
            <a:r>
              <a:rPr sz="32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ormalizzazione</a:t>
            </a:r>
            <a:r>
              <a:rPr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sz="32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immagini</a:t>
            </a:r>
            <a:r>
              <a:rPr lang="it-IT"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 (per avere valori compresi tra 0 ed 1)</a:t>
            </a:r>
          </a:p>
          <a:p>
            <a:r>
              <a:rPr lang="it-IT"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Unisco il </a:t>
            </a:r>
            <a:r>
              <a:rPr lang="it-IT" sz="32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dataset</a:t>
            </a:r>
            <a:r>
              <a:rPr lang="it-IT"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 composto dai dati di training e di test (li dividerò diversamente dopo) sia per gli esempi che per i target</a:t>
            </a:r>
          </a:p>
          <a:p>
            <a:r>
              <a:rPr lang="it-IT"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Partizionamento del </a:t>
            </a:r>
            <a:r>
              <a:rPr lang="it-IT" sz="32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dataset</a:t>
            </a:r>
            <a:r>
              <a:rPr lang="it-IT"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 (visto l’elevato numero di campioni, della complessità computazionale dovuta alla </a:t>
            </a:r>
            <a:r>
              <a:rPr lang="it-IT" sz="32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GridSearchCV</a:t>
            </a:r>
            <a:r>
              <a:rPr lang="it-IT"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 per la ricerca dei migliori </a:t>
            </a:r>
            <a:r>
              <a:rPr lang="it-IT" sz="32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iperparametri</a:t>
            </a:r>
            <a:r>
              <a:rPr lang="it-IT"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) mantenendo inalterate le proporzioni di distribuzione delle classi nel </a:t>
            </a:r>
            <a:r>
              <a:rPr lang="it-IT" sz="32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dataset</a:t>
            </a:r>
            <a:endParaRPr sz="3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it-IT"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Divisione </a:t>
            </a:r>
            <a:r>
              <a:rPr lang="it-IT" sz="32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dataset</a:t>
            </a:r>
            <a:r>
              <a:rPr lang="it-IT"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 unito e partizionato </a:t>
            </a:r>
            <a:r>
              <a:rPr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in</a:t>
            </a:r>
            <a:r>
              <a:rPr lang="it-IT"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: t</a:t>
            </a:r>
            <a:r>
              <a:rPr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raining</a:t>
            </a:r>
            <a:r>
              <a:rPr lang="it-IT"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 set ,</a:t>
            </a:r>
            <a:r>
              <a:rPr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validation</a:t>
            </a:r>
            <a:r>
              <a:rPr lang="it-IT"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 set</a:t>
            </a:r>
            <a:r>
              <a:rPr lang="it-IT" sz="3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e</a:t>
            </a:r>
            <a:r>
              <a:rPr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 test</a:t>
            </a:r>
            <a:r>
              <a:rPr lang="it-IT" sz="3200" dirty="0" smtClean="0">
                <a:latin typeface="Verdana" panose="020B0604030504040204" pitchFamily="34" charset="0"/>
                <a:ea typeface="Verdana" panose="020B0604030504040204" pitchFamily="34" charset="0"/>
              </a:rPr>
              <a:t> set , secondo le proporzioni 80/10/10</a:t>
            </a:r>
            <a:endParaRPr sz="3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0" y="1123838"/>
            <a:ext cx="2500885" cy="4601183"/>
          </a:xfrm>
        </p:spPr>
        <p:txBody>
          <a:bodyPr/>
          <a:lstStyle/>
          <a:p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Metodologia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sz="20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Ricerca del modello migliore</a:t>
            </a:r>
          </a:p>
          <a:p>
            <a:r>
              <a:rPr lang="it-IT" sz="1600" dirty="0" smtClean="0">
                <a:latin typeface="Verdana" panose="020B0604030504040204" pitchFamily="34" charset="0"/>
                <a:ea typeface="Verdana" panose="020B0604030504040204" pitchFamily="34" charset="0"/>
              </a:rPr>
              <a:t>Preparazione del </a:t>
            </a:r>
            <a:r>
              <a:rPr lang="it-IT" sz="16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GridSearchCV</a:t>
            </a:r>
            <a:r>
              <a:rPr lang="it-IT" sz="1600" dirty="0" smtClean="0">
                <a:latin typeface="Verdana" panose="020B0604030504040204" pitchFamily="34" charset="0"/>
                <a:ea typeface="Verdana" panose="020B0604030504040204" pitchFamily="34" charset="0"/>
              </a:rPr>
              <a:t>: creazione dizionario </a:t>
            </a:r>
            <a:r>
              <a:rPr lang="it-IT" sz="16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param_grid</a:t>
            </a:r>
            <a:r>
              <a:rPr lang="it-IT" sz="1600" dirty="0" smtClean="0">
                <a:latin typeface="Verdana" panose="020B0604030504040204" pitchFamily="34" charset="0"/>
                <a:ea typeface="Verdana" panose="020B0604030504040204" pitchFamily="34" charset="0"/>
              </a:rPr>
              <a:t> contenente, per ogni modello, una lista di </a:t>
            </a:r>
            <a:r>
              <a:rPr lang="it-IT" sz="16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iperparametri</a:t>
            </a:r>
            <a:r>
              <a:rPr lang="it-IT" sz="1600" dirty="0" smtClean="0">
                <a:latin typeface="Verdana" panose="020B0604030504040204" pitchFamily="34" charset="0"/>
                <a:ea typeface="Verdana" panose="020B0604030504040204" pitchFamily="34" charset="0"/>
              </a:rPr>
              <a:t> possibili</a:t>
            </a:r>
          </a:p>
          <a:p>
            <a:r>
              <a:rPr lang="it-IT" sz="1600" dirty="0" smtClean="0">
                <a:latin typeface="Verdana" panose="020B0604030504040204" pitchFamily="34" charset="0"/>
                <a:ea typeface="Verdana" panose="020B0604030504040204" pitchFamily="34" charset="0"/>
              </a:rPr>
              <a:t>Per ogni famiglia di modelli: </a:t>
            </a:r>
          </a:p>
          <a:p>
            <a:pPr lvl="1"/>
            <a:r>
              <a:rPr lang="it-IT" sz="1600" dirty="0" smtClean="0">
                <a:latin typeface="Verdana" panose="020B0604030504040204" pitchFamily="34" charset="0"/>
                <a:ea typeface="Verdana" panose="020B0604030504040204" pitchFamily="34" charset="0"/>
              </a:rPr>
              <a:t>alleniamo il singolo modello: </a:t>
            </a:r>
          </a:p>
          <a:p>
            <a:pPr lvl="2"/>
            <a:r>
              <a:rPr lang="it-IT" sz="1600" dirty="0" smtClean="0">
                <a:latin typeface="Verdana" panose="020B0604030504040204" pitchFamily="34" charset="0"/>
                <a:ea typeface="Verdana" panose="020B0604030504040204" pitchFamily="34" charset="0"/>
              </a:rPr>
              <a:t>tramite </a:t>
            </a:r>
            <a:r>
              <a:rPr lang="it-IT" sz="16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GridSearchCV</a:t>
            </a:r>
            <a:r>
              <a:rPr lang="it-IT" sz="1600" dirty="0" smtClean="0">
                <a:latin typeface="Verdana" panose="020B0604030504040204" pitchFamily="34" charset="0"/>
                <a:ea typeface="Verdana" panose="020B0604030504040204" pitchFamily="34" charset="0"/>
              </a:rPr>
              <a:t>, viene fatta cross </a:t>
            </a:r>
            <a:r>
              <a:rPr lang="it-IT" sz="16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validation</a:t>
            </a:r>
            <a:r>
              <a:rPr lang="it-IT" sz="1600" dirty="0" smtClean="0">
                <a:latin typeface="Verdana" panose="020B0604030504040204" pitchFamily="34" charset="0"/>
                <a:ea typeface="Verdana" panose="020B0604030504040204" pitchFamily="34" charset="0"/>
              </a:rPr>
              <a:t>, con k-</a:t>
            </a:r>
            <a:r>
              <a:rPr lang="it-IT" sz="16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fold</a:t>
            </a:r>
            <a:r>
              <a:rPr lang="it-IT" sz="1600" dirty="0" smtClean="0">
                <a:latin typeface="Verdana" panose="020B0604030504040204" pitchFamily="34" charset="0"/>
                <a:ea typeface="Verdana" panose="020B0604030504040204" pitchFamily="34" charset="0"/>
              </a:rPr>
              <a:t>=3, viene scelto il modello della stessa famiglia con gli </a:t>
            </a:r>
            <a:r>
              <a:rPr lang="it-IT" sz="16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iperparametri</a:t>
            </a:r>
            <a:r>
              <a:rPr lang="it-IT" sz="1600" dirty="0" smtClean="0">
                <a:latin typeface="Verdana" panose="020B0604030504040204" pitchFamily="34" charset="0"/>
                <a:ea typeface="Verdana" panose="020B0604030504040204" pitchFamily="34" charset="0"/>
              </a:rPr>
              <a:t> che massimizzano la metrica scelta (accuratezza)</a:t>
            </a:r>
          </a:p>
          <a:p>
            <a:pPr lvl="1"/>
            <a:r>
              <a:rPr lang="it-IT" sz="1600" dirty="0" smtClean="0">
                <a:latin typeface="Verdana" panose="020B0604030504040204" pitchFamily="34" charset="0"/>
                <a:ea typeface="Verdana" panose="020B0604030504040204" pitchFamily="34" charset="0"/>
              </a:rPr>
              <a:t>Calcolo accuratezza del modello scelto in precedenza sulle predizioni che fa sul </a:t>
            </a:r>
            <a:r>
              <a:rPr lang="it-IT" sz="16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validation</a:t>
            </a:r>
            <a:r>
              <a:rPr lang="it-IT" sz="1600" dirty="0" smtClean="0">
                <a:latin typeface="Verdana" panose="020B0604030504040204" pitchFamily="34" charset="0"/>
                <a:ea typeface="Verdana" panose="020B0604030504040204" pitchFamily="34" charset="0"/>
              </a:rPr>
              <a:t> set</a:t>
            </a:r>
          </a:p>
          <a:p>
            <a:pPr lvl="1"/>
            <a:r>
              <a:rPr lang="it-IT" sz="1600" dirty="0" smtClean="0">
                <a:latin typeface="Verdana" panose="020B0604030504040204" pitchFamily="34" charset="0"/>
                <a:ea typeface="Verdana" panose="020B0604030504040204" pitchFamily="34" charset="0"/>
              </a:rPr>
              <a:t>Confronto l’accuratezza ottenuta dal suddetto modello, con la migliore accuratezza ottenuta fino a quel momento dalle altre famiglie di modelli</a:t>
            </a:r>
          </a:p>
          <a:p>
            <a:r>
              <a:rPr lang="it-IT" sz="1600" dirty="0" smtClean="0">
                <a:latin typeface="Verdana" panose="020B0604030504040204" pitchFamily="34" charset="0"/>
                <a:ea typeface="Verdana" panose="020B0604030504040204" pitchFamily="34" charset="0"/>
              </a:rPr>
              <a:t>Ho il modello, settato con i suoi </a:t>
            </a:r>
            <a:r>
              <a:rPr lang="it-IT" sz="16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iperparametri</a:t>
            </a:r>
            <a:r>
              <a:rPr lang="it-IT" sz="1600" dirty="0" smtClean="0">
                <a:latin typeface="Verdana" panose="020B0604030504040204" pitchFamily="34" charset="0"/>
                <a:ea typeface="Verdana" panose="020B0604030504040204" pitchFamily="34" charset="0"/>
              </a:rPr>
              <a:t>, che ha maggior accuratezza sul </a:t>
            </a:r>
            <a:r>
              <a:rPr lang="it-IT" sz="16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validation</a:t>
            </a:r>
            <a:r>
              <a:rPr lang="it-IT" sz="1600" dirty="0" smtClean="0">
                <a:latin typeface="Verdana" panose="020B0604030504040204" pitchFamily="34" charset="0"/>
                <a:ea typeface="Verdana" panose="020B0604030504040204" pitchFamily="34" charset="0"/>
              </a:rPr>
              <a:t> set</a:t>
            </a:r>
          </a:p>
        </p:txBody>
      </p:sp>
    </p:spTree>
    <p:extLst>
      <p:ext uri="{BB962C8B-B14F-4D97-AF65-F5344CB8AC3E}">
        <p14:creationId xmlns:p14="http://schemas.microsoft.com/office/powerpoint/2010/main" val="1061752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59437" y="1123838"/>
            <a:ext cx="2491741" cy="4601183"/>
          </a:xfrm>
        </p:spPr>
        <p:txBody>
          <a:bodyPr/>
          <a:lstStyle/>
          <a:p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Metodologia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sz="20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Risultati del modello migliore</a:t>
            </a:r>
          </a:p>
          <a:p>
            <a:r>
              <a:rPr lang="it-IT" dirty="0" smtClean="0">
                <a:latin typeface="Verdana" panose="020B0604030504040204" pitchFamily="34" charset="0"/>
                <a:ea typeface="Verdana" panose="020B0604030504040204" pitchFamily="34" charset="0"/>
              </a:rPr>
              <a:t>Unisco il training e </a:t>
            </a:r>
            <a:r>
              <a:rPr lang="it-IT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validation</a:t>
            </a:r>
            <a:r>
              <a:rPr lang="it-IT" dirty="0" smtClean="0">
                <a:latin typeface="Verdana" panose="020B0604030504040204" pitchFamily="34" charset="0"/>
                <a:ea typeface="Verdana" panose="020B0604030504040204" pitchFamily="34" charset="0"/>
              </a:rPr>
              <a:t> set</a:t>
            </a:r>
          </a:p>
          <a:p>
            <a:r>
              <a:rPr lang="it-IT" dirty="0" smtClean="0">
                <a:latin typeface="Verdana" panose="020B0604030504040204" pitchFamily="34" charset="0"/>
                <a:ea typeface="Verdana" panose="020B0604030504040204" pitchFamily="34" charset="0"/>
              </a:rPr>
              <a:t>Rialleno il modello sul nuovo </a:t>
            </a:r>
            <a:r>
              <a:rPr lang="it-IT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train_val</a:t>
            </a:r>
            <a:r>
              <a:rPr lang="it-IT" dirty="0" smtClean="0">
                <a:latin typeface="Verdana" panose="020B0604030504040204" pitchFamily="34" charset="0"/>
                <a:ea typeface="Verdana" panose="020B0604030504040204" pitchFamily="34" charset="0"/>
              </a:rPr>
              <a:t> set</a:t>
            </a:r>
          </a:p>
          <a:p>
            <a:r>
              <a:rPr lang="it-IT" dirty="0" smtClean="0">
                <a:latin typeface="Verdana" panose="020B0604030504040204" pitchFamily="34" charset="0"/>
                <a:ea typeface="Verdana" panose="020B0604030504040204" pitchFamily="34" charset="0"/>
              </a:rPr>
              <a:t>Calcolo l’accuratezza del modello scelto sul test set</a:t>
            </a:r>
          </a:p>
          <a:p>
            <a:r>
              <a:rPr lang="it-IT" dirty="0" smtClean="0">
                <a:latin typeface="Verdana" panose="020B0604030504040204" pitchFamily="34" charset="0"/>
                <a:ea typeface="Verdana" panose="020B0604030504040204" pitchFamily="34" charset="0"/>
              </a:rPr>
              <a:t>Visualizzo il </a:t>
            </a:r>
            <a:r>
              <a:rPr lang="it-IT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Classification</a:t>
            </a:r>
            <a:r>
              <a:rPr lang="it-IT" dirty="0" smtClean="0">
                <a:latin typeface="Verdana" panose="020B0604030504040204" pitchFamily="34" charset="0"/>
                <a:ea typeface="Verdana" panose="020B0604030504040204" pitchFamily="34" charset="0"/>
              </a:rPr>
              <a:t> report del modello sempre sul test set</a:t>
            </a:r>
          </a:p>
          <a:p>
            <a:r>
              <a:rPr lang="it-IT" dirty="0" smtClean="0">
                <a:latin typeface="Verdana" panose="020B0604030504040204" pitchFamily="34" charset="0"/>
                <a:ea typeface="Verdana" panose="020B0604030504040204" pitchFamily="34" charset="0"/>
              </a:rPr>
              <a:t>Visualizzo graficamente la matrice di confusione del modello scelto</a:t>
            </a:r>
          </a:p>
        </p:txBody>
      </p:sp>
    </p:spTree>
    <p:extLst>
      <p:ext uri="{BB962C8B-B14F-4D97-AF65-F5344CB8AC3E}">
        <p14:creationId xmlns:p14="http://schemas.microsoft.com/office/powerpoint/2010/main" val="2153300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25680" y="1123838"/>
            <a:ext cx="2297479" cy="4601183"/>
          </a:xfrm>
        </p:spPr>
        <p:txBody>
          <a:bodyPr/>
          <a:lstStyle/>
          <a:p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Risultati Validazione</a:t>
            </a:r>
          </a:p>
        </p:txBody>
      </p:sp>
      <p:graphicFrame>
        <p:nvGraphicFramePr>
          <p:cNvPr id="4" name="Segnaposto contenut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5228712"/>
              </p:ext>
            </p:extLst>
          </p:nvPr>
        </p:nvGraphicFramePr>
        <p:xfrm>
          <a:off x="2901950" y="863600"/>
          <a:ext cx="5486400" cy="559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Modello </a:t>
                      </a:r>
                      <a:endParaRPr lang="it-IT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60960" marR="60960"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Parametri </a:t>
                      </a:r>
                      <a:endParaRPr lang="it-IT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60960" marR="60960"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Accuratezza su </a:t>
                      </a:r>
                      <a:r>
                        <a:rPr lang="it-IT" dirty="0" err="1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validation</a:t>
                      </a:r>
                      <a:r>
                        <a:rPr lang="it-IT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set</a:t>
                      </a:r>
                      <a:endParaRPr lang="it-IT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60960" marR="60960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it-IT" sz="15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Regressione Logistica </a:t>
                      </a:r>
                      <a:endParaRPr lang="it-IT" sz="15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60960" marR="60960"/>
                </a:tc>
                <a:tc>
                  <a:txBody>
                    <a:bodyPr/>
                    <a:lstStyle/>
                    <a:p>
                      <a:r>
                        <a:rPr lang="it-IT" sz="16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{'C': 0.1, 'solver': '</a:t>
                      </a:r>
                      <a:r>
                        <a:rPr lang="it-IT" sz="1600" dirty="0" err="1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liblinear</a:t>
                      </a:r>
                      <a:r>
                        <a:rPr lang="it-IT" sz="16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'}</a:t>
                      </a:r>
                      <a:endParaRPr lang="it-IT" sz="15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60960" marR="60960"/>
                </a:tc>
                <a:tc>
                  <a:txBody>
                    <a:bodyPr/>
                    <a:lstStyle/>
                    <a:p>
                      <a:r>
                        <a:rPr lang="it-IT" sz="15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0.3670</a:t>
                      </a:r>
                      <a:endParaRPr lang="it-IT" sz="15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60960" marR="60960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it-IT" sz="15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SVM</a:t>
                      </a:r>
                      <a:endParaRPr lang="it-IT" sz="15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60960" marR="60960"/>
                </a:tc>
                <a:tc>
                  <a:txBody>
                    <a:bodyPr/>
                    <a:lstStyle/>
                    <a:p>
                      <a:r>
                        <a:rPr lang="it-IT" sz="16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{'C': 10, '</a:t>
                      </a:r>
                      <a:r>
                        <a:rPr lang="it-IT" sz="1600" dirty="0" err="1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kernel</a:t>
                      </a:r>
                      <a:r>
                        <a:rPr lang="it-IT" sz="16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': '</a:t>
                      </a:r>
                      <a:r>
                        <a:rPr lang="it-IT" sz="1600" dirty="0" err="1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rbf</a:t>
                      </a:r>
                      <a:r>
                        <a:rPr lang="it-IT" sz="16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'}</a:t>
                      </a:r>
                      <a:endParaRPr lang="it-IT" sz="15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60960" marR="60960"/>
                </a:tc>
                <a:tc>
                  <a:txBody>
                    <a:bodyPr/>
                    <a:lstStyle/>
                    <a:p>
                      <a:r>
                        <a:rPr lang="it-IT" sz="15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0.4690</a:t>
                      </a:r>
                      <a:endParaRPr lang="it-IT" sz="15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60960" marR="60960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it-IT" sz="15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K-NN</a:t>
                      </a:r>
                      <a:endParaRPr lang="it-IT" sz="15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60960" marR="60960"/>
                </a:tc>
                <a:tc>
                  <a:txBody>
                    <a:bodyPr/>
                    <a:lstStyle/>
                    <a:p>
                      <a:r>
                        <a:rPr lang="it-IT" sz="15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{'</a:t>
                      </a:r>
                      <a:r>
                        <a:rPr lang="it-IT" sz="1500" dirty="0" err="1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metric</a:t>
                      </a:r>
                      <a:r>
                        <a:rPr lang="it-IT" sz="15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': '</a:t>
                      </a:r>
                      <a:r>
                        <a:rPr lang="it-IT" sz="1500" dirty="0" err="1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manhattan</a:t>
                      </a:r>
                      <a:r>
                        <a:rPr lang="it-IT" sz="15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', '</a:t>
                      </a:r>
                      <a:r>
                        <a:rPr lang="it-IT" sz="1500" dirty="0" err="1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n_neighbors</a:t>
                      </a:r>
                      <a:r>
                        <a:rPr lang="it-IT" sz="15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': 7, '</a:t>
                      </a:r>
                      <a:r>
                        <a:rPr lang="it-IT" sz="1500" dirty="0" err="1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weights</a:t>
                      </a:r>
                      <a:r>
                        <a:rPr lang="it-IT" sz="15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': '</a:t>
                      </a:r>
                      <a:r>
                        <a:rPr lang="it-IT" sz="1500" dirty="0" err="1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distance</a:t>
                      </a:r>
                      <a:r>
                        <a:rPr lang="it-IT" sz="15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'}</a:t>
                      </a:r>
                      <a:endParaRPr lang="it-IT" sz="15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60960" marR="60960"/>
                </a:tc>
                <a:tc>
                  <a:txBody>
                    <a:bodyPr/>
                    <a:lstStyle/>
                    <a:p>
                      <a:r>
                        <a:rPr lang="it-IT" sz="15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0.3160</a:t>
                      </a:r>
                      <a:endParaRPr lang="it-IT" sz="15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60960" marR="60960"/>
                </a:tc>
              </a:tr>
              <a:tr h="1943608">
                <a:tc>
                  <a:txBody>
                    <a:bodyPr/>
                    <a:lstStyle/>
                    <a:p>
                      <a:r>
                        <a:rPr lang="it-IT" sz="15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Albero Decisionale</a:t>
                      </a:r>
                      <a:endParaRPr lang="it-IT" sz="15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60960" marR="60960"/>
                </a:tc>
                <a:tc>
                  <a:txBody>
                    <a:bodyPr/>
                    <a:lstStyle/>
                    <a:p>
                      <a:r>
                        <a:rPr lang="it-IT" sz="16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{'</a:t>
                      </a:r>
                      <a:r>
                        <a:rPr lang="it-IT" sz="1600" dirty="0" err="1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criterion</a:t>
                      </a:r>
                      <a:r>
                        <a:rPr lang="it-IT" sz="16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': '</a:t>
                      </a:r>
                      <a:r>
                        <a:rPr lang="it-IT" sz="1600" dirty="0" err="1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gini</a:t>
                      </a:r>
                      <a:r>
                        <a:rPr lang="it-IT" sz="16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', '</a:t>
                      </a:r>
                      <a:r>
                        <a:rPr lang="it-IT" sz="1600" dirty="0" err="1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max_depth</a:t>
                      </a:r>
                      <a:r>
                        <a:rPr lang="it-IT" sz="16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': 10, '</a:t>
                      </a:r>
                      <a:r>
                        <a:rPr lang="it-IT" sz="1600" dirty="0" err="1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min_samples_leaf</a:t>
                      </a:r>
                      <a:r>
                        <a:rPr lang="it-IT" sz="16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': 1, '</a:t>
                      </a:r>
                      <a:r>
                        <a:rPr lang="it-IT" sz="1600" dirty="0" err="1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min_samples_split</a:t>
                      </a:r>
                      <a:r>
                        <a:rPr lang="it-IT" sz="16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': 2}</a:t>
                      </a:r>
                      <a:endParaRPr lang="it-IT" sz="15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60960" marR="60960"/>
                </a:tc>
                <a:tc>
                  <a:txBody>
                    <a:bodyPr/>
                    <a:lstStyle/>
                    <a:p>
                      <a:r>
                        <a:rPr lang="it-IT" sz="1600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0.2630</a:t>
                      </a:r>
                      <a:endParaRPr lang="it-IT" sz="15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60960" marR="6096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3005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Verdana" panose="020B0604030504040204" pitchFamily="34" charset="0"/>
                <a:ea typeface="Verdana" panose="020B0604030504040204" pitchFamily="34" charset="0"/>
              </a:rPr>
              <a:t>Miglior</a:t>
            </a:r>
            <a:r>
              <a:rPr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dirty="0" err="1">
                <a:latin typeface="Verdana" panose="020B0604030504040204" pitchFamily="34" charset="0"/>
                <a:ea typeface="Verdana" panose="020B0604030504040204" pitchFamily="34" charset="0"/>
              </a:rPr>
              <a:t>Modello</a:t>
            </a:r>
            <a:r>
              <a:rPr dirty="0">
                <a:latin typeface="Verdana" panose="020B0604030504040204" pitchFamily="34" charset="0"/>
                <a:ea typeface="Verdana" panose="020B0604030504040204" pitchFamily="34" charset="0"/>
              </a:rPr>
              <a:t> - </a:t>
            </a:r>
            <a:r>
              <a:rPr dirty="0" err="1">
                <a:latin typeface="Verdana" panose="020B0604030504040204" pitchFamily="34" charset="0"/>
                <a:ea typeface="Verdana" panose="020B0604030504040204" pitchFamily="34" charset="0"/>
              </a:rPr>
              <a:t>Risultati</a:t>
            </a:r>
            <a:r>
              <a:rPr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dirty="0" err="1">
                <a:latin typeface="Verdana" panose="020B0604030504040204" pitchFamily="34" charset="0"/>
                <a:ea typeface="Verdana" panose="020B0604030504040204" pitchFamily="34" charset="0"/>
              </a:rPr>
              <a:t>Finali</a:t>
            </a:r>
            <a:endParaRPr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1951" y="864108"/>
            <a:ext cx="5486400" cy="7360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24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Modello</a:t>
            </a:r>
            <a:r>
              <a:rPr sz="2400" dirty="0" smtClean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sz="2400" dirty="0" err="1">
                <a:latin typeface="Verdana" panose="020B0604030504040204" pitchFamily="34" charset="0"/>
                <a:ea typeface="Verdana" panose="020B0604030504040204" pitchFamily="34" charset="0"/>
              </a:rPr>
              <a:t>selezionato</a:t>
            </a:r>
            <a:r>
              <a:rPr sz="2400" dirty="0">
                <a:latin typeface="Verdana" panose="020B0604030504040204" pitchFamily="34" charset="0"/>
                <a:ea typeface="Verdana" panose="020B0604030504040204" pitchFamily="34" charset="0"/>
              </a:rPr>
              <a:t>: </a:t>
            </a:r>
            <a:r>
              <a:rPr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SVM</a:t>
            </a:r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7876" y="1600200"/>
            <a:ext cx="5164836" cy="43671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egnaposto contenuto 3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77" r="6016"/>
          <a:stretch/>
        </p:blipFill>
        <p:spPr>
          <a:xfrm>
            <a:off x="2581777" y="731520"/>
            <a:ext cx="6178176" cy="5458967"/>
          </a:xfrm>
        </p:spPr>
      </p:pic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smtClean="0">
                <a:latin typeface="Verdana" panose="020B0604030504040204" pitchFamily="34" charset="0"/>
                <a:ea typeface="Verdana" panose="020B0604030504040204" pitchFamily="34" charset="0"/>
              </a:rPr>
              <a:t>Matrice di confusione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1922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536" y="1123836"/>
            <a:ext cx="2297479" cy="4601183"/>
          </a:xfrm>
        </p:spPr>
        <p:txBody>
          <a:bodyPr/>
          <a:lstStyle/>
          <a:p>
            <a:r>
              <a:rPr dirty="0" err="1">
                <a:latin typeface="Verdana" panose="020B0604030504040204" pitchFamily="34" charset="0"/>
                <a:ea typeface="Verdana" panose="020B0604030504040204" pitchFamily="34" charset="0"/>
              </a:rPr>
              <a:t>Conclusioni</a:t>
            </a:r>
            <a:endParaRPr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400" dirty="0" smtClean="0">
                <a:latin typeface="Verdana" panose="020B0604030504040204" pitchFamily="34" charset="0"/>
                <a:ea typeface="Verdana" panose="020B0604030504040204" pitchFamily="34" charset="0"/>
              </a:rPr>
              <a:t>I </a:t>
            </a:r>
            <a:r>
              <a:rPr sz="2400" dirty="0" err="1">
                <a:latin typeface="Verdana" panose="020B0604030504040204" pitchFamily="34" charset="0"/>
                <a:ea typeface="Verdana" panose="020B0604030504040204" pitchFamily="34" charset="0"/>
              </a:rPr>
              <a:t>modelli</a:t>
            </a:r>
            <a:r>
              <a:rPr sz="24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400" dirty="0" smtClean="0">
                <a:latin typeface="Verdana" panose="020B0604030504040204" pitchFamily="34" charset="0"/>
                <a:ea typeface="Verdana" panose="020B0604030504040204" pitchFamily="34" charset="0"/>
              </a:rPr>
              <a:t>considerati </a:t>
            </a:r>
            <a:r>
              <a:rPr sz="24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hanno</a:t>
            </a:r>
            <a:r>
              <a:rPr sz="2400" dirty="0" smtClean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sz="2400" b="1" dirty="0" err="1">
                <a:latin typeface="Verdana" panose="020B0604030504040204" pitchFamily="34" charset="0"/>
                <a:ea typeface="Verdana" panose="020B0604030504040204" pitchFamily="34" charset="0"/>
              </a:rPr>
              <a:t>prestazioni</a:t>
            </a:r>
            <a:r>
              <a:rPr sz="24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sz="2400" b="1" dirty="0" err="1">
                <a:latin typeface="Verdana" panose="020B0604030504040204" pitchFamily="34" charset="0"/>
                <a:ea typeface="Verdana" panose="020B0604030504040204" pitchFamily="34" charset="0"/>
              </a:rPr>
              <a:t>limitate</a:t>
            </a:r>
            <a:r>
              <a:rPr sz="24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sz="24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su</a:t>
            </a:r>
            <a:r>
              <a:rPr lang="it-IT" sz="2400" dirty="0" smtClean="0">
                <a:latin typeface="Verdana" panose="020B0604030504040204" pitchFamily="34" charset="0"/>
                <a:ea typeface="Verdana" panose="020B0604030504040204" pitchFamily="34" charset="0"/>
              </a:rPr>
              <a:t>l </a:t>
            </a:r>
            <a:r>
              <a:rPr lang="it-IT" sz="24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dataset</a:t>
            </a:r>
            <a:r>
              <a:rPr lang="it-IT" sz="2400" dirty="0" smtClean="0">
                <a:latin typeface="Verdana" panose="020B0604030504040204" pitchFamily="34" charset="0"/>
                <a:ea typeface="Verdana" panose="020B0604030504040204" pitchFamily="34" charset="0"/>
              </a:rPr>
              <a:t> CIFAR10</a:t>
            </a:r>
            <a:endParaRPr sz="2400" dirty="0" smtClean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SVM</a:t>
            </a:r>
            <a:r>
              <a:rPr sz="2400" dirty="0" smtClean="0">
                <a:latin typeface="Verdana" panose="020B0604030504040204" pitchFamily="34" charset="0"/>
                <a:ea typeface="Verdana" panose="020B0604030504040204" pitchFamily="34" charset="0"/>
              </a:rPr>
              <a:t> ha </a:t>
            </a:r>
            <a:r>
              <a:rPr sz="24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ottenuto</a:t>
            </a:r>
            <a:r>
              <a:rPr sz="2400" dirty="0" smtClean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sz="24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i</a:t>
            </a:r>
            <a:r>
              <a:rPr sz="2400" dirty="0" smtClean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sz="24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migliori</a:t>
            </a:r>
            <a:r>
              <a:rPr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sz="24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risultati</a:t>
            </a:r>
            <a:endParaRPr sz="2400" b="1" dirty="0" smtClean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rnice">
  <a:themeElements>
    <a:clrScheme name="Cornic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Cornic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Cornic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Cornice</Template>
  <TotalTime>326</TotalTime>
  <Words>539</Words>
  <Application>Microsoft Office PowerPoint</Application>
  <PresentationFormat>Presentazione su schermo (4:3)</PresentationFormat>
  <Paragraphs>63</Paragraphs>
  <Slides>11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15" baseType="lpstr">
      <vt:lpstr>Corbel</vt:lpstr>
      <vt:lpstr>Verdana</vt:lpstr>
      <vt:lpstr>Wingdings 2</vt:lpstr>
      <vt:lpstr>Cornice</vt:lpstr>
      <vt:lpstr>Classificazione CIFAR-10 con modelli di Machine Learning</vt:lpstr>
      <vt:lpstr>Descrizione del Dataset</vt:lpstr>
      <vt:lpstr>CIFAR10</vt:lpstr>
      <vt:lpstr>Obiettivo del Progetto</vt:lpstr>
      <vt:lpstr>Metodologia</vt:lpstr>
      <vt:lpstr>Metodologia</vt:lpstr>
      <vt:lpstr>Metodologia</vt:lpstr>
      <vt:lpstr>Risultati Validazione</vt:lpstr>
      <vt:lpstr>Miglior Modello - Risultati Finali</vt:lpstr>
      <vt:lpstr>Matrice di confusione</vt:lpstr>
      <vt:lpstr>Conclusioni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Classificazione CIFAR-10 con modelli classici di Machine Learning</dc:title>
  <dc:subject/>
  <dc:creator/>
  <cp:keywords/>
  <dc:description>generated using python-pptx</dc:description>
  <cp:lastModifiedBy>oscartorrisi72@outlook.it</cp:lastModifiedBy>
  <cp:revision>29</cp:revision>
  <dcterms:created xsi:type="dcterms:W3CDTF">2013-01-27T09:14:16Z</dcterms:created>
  <dcterms:modified xsi:type="dcterms:W3CDTF">2025-04-30T21:20:52Z</dcterms:modified>
  <cp:category/>
</cp:coreProperties>
</file>