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58" r:id="rId5"/>
    <p:sldId id="260" r:id="rId6"/>
    <p:sldId id="264" r:id="rId7"/>
    <p:sldId id="265" r:id="rId8"/>
    <p:sldId id="266" r:id="rId9"/>
    <p:sldId id="262" r:id="rId10"/>
    <p:sldId id="268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9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0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2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65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2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9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76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1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77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1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7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0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Classificazione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CIFAR-10 con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modelli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dirty="0" smtClean="0">
                <a:latin typeface="Verdana" panose="020B0604030504040204" pitchFamily="34" charset="0"/>
                <a:ea typeface="Verdana" panose="020B0604030504040204" pitchFamily="34" charset="0"/>
              </a:rPr>
              <a:t>di 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Oscar Torrisi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Descrizione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del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951" y="1037844"/>
            <a:ext cx="5486400" cy="5120640"/>
          </a:xfrm>
        </p:spPr>
        <p:txBody>
          <a:bodyPr>
            <a:normAutofit fontScale="92500" lnSpcReduction="10000"/>
          </a:bodyPr>
          <a:lstStyle/>
          <a:p>
            <a:r>
              <a:rPr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sz="2000" b="1" dirty="0">
                <a:latin typeface="Verdana" panose="020B0604030504040204" pitchFamily="34" charset="0"/>
                <a:ea typeface="Verdana" panose="020B0604030504040204" pitchFamily="34" charset="0"/>
              </a:rPr>
              <a:t>CIFAR-10</a:t>
            </a:r>
          </a:p>
          <a:p>
            <a:r>
              <a:rPr lang="it-IT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Fonte: https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://www.cs.toronto.edu/~kriz/cifar.html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60.000 </a:t>
            </a:r>
            <a:r>
              <a:rPr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immagini</a:t>
            </a:r>
            <a:r>
              <a:rPr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</a:rPr>
              <a:t>RGB (32x32 </a:t>
            </a:r>
            <a:r>
              <a:rPr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px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</a:rPr>
              <a:t>) in </a:t>
            </a:r>
            <a:r>
              <a:rPr sz="2000" b="1" dirty="0">
                <a:latin typeface="Verdana" panose="020B0604030504040204" pitchFamily="34" charset="0"/>
                <a:ea typeface="Verdana" panose="020B0604030504040204" pitchFamily="34" charset="0"/>
              </a:rPr>
              <a:t>10 </a:t>
            </a:r>
            <a:r>
              <a:rPr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classi</a:t>
            </a:r>
            <a:endParaRPr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50.000 </a:t>
            </a:r>
            <a:r>
              <a:rPr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immagini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</a:rPr>
              <a:t> di training, 10.000 di </a:t>
            </a:r>
            <a:r>
              <a:rPr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test</a:t>
            </a:r>
            <a:endParaRPr lang="it-IT" sz="2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it-IT" sz="20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r>
              <a:rPr lang="it-IT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 composto da </a:t>
            </a:r>
            <a:r>
              <a:rPr lang="it-IT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5 file </a:t>
            </a:r>
            <a:r>
              <a:rPr lang="it-IT" sz="20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data_batch</a:t>
            </a:r>
            <a:r>
              <a:rPr lang="it-IT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(esempi per il training) e </a:t>
            </a:r>
            <a:r>
              <a:rPr lang="it-IT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1 file </a:t>
            </a:r>
            <a:r>
              <a:rPr lang="it-IT" sz="20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test_batch</a:t>
            </a:r>
            <a:r>
              <a:rPr lang="it-IT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per la valutazione finale</a:t>
            </a:r>
          </a:p>
          <a:p>
            <a:r>
              <a:rPr lang="it-IT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Nel training set ci sono, complessivamente, 5000 esempi per classe, distribuite casualmente tra i file </a:t>
            </a:r>
            <a:r>
              <a:rPr lang="it-IT" sz="20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data_batch</a:t>
            </a:r>
            <a:endParaRPr lang="it-IT" sz="2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it-IT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Nel test set ci sono 1000 esempi per classe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CIFAR10</a:t>
            </a:r>
            <a:endParaRPr lang="it-IT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044" y="1508760"/>
            <a:ext cx="5997900" cy="4531077"/>
          </a:xfrm>
        </p:spPr>
      </p:pic>
      <p:sp>
        <p:nvSpPr>
          <p:cNvPr id="5" name="CasellaDiTesto 4"/>
          <p:cNvSpPr txBox="1"/>
          <p:nvPr/>
        </p:nvSpPr>
        <p:spPr>
          <a:xfrm>
            <a:off x="3044952" y="893005"/>
            <a:ext cx="482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Esempio </a:t>
            </a:r>
            <a:r>
              <a:rPr lang="it-IT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endParaRPr lang="it-IT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48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Obiettivo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del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Progetto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Confrontare</a:t>
            </a:r>
            <a:r>
              <a:rPr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it-IT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 seguenti </a:t>
            </a:r>
            <a:r>
              <a:rPr lang="it-IT"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modelli sul </a:t>
            </a:r>
            <a:r>
              <a:rPr lang="it-IT" sz="18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r>
              <a:rPr lang="it-IT"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scelto: </a:t>
            </a:r>
            <a:r>
              <a:rPr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Regression</a:t>
            </a:r>
            <a:r>
              <a:rPr lang="it-IT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e Logistica</a:t>
            </a:r>
            <a:r>
              <a:rPr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SVM, </a:t>
            </a:r>
            <a:r>
              <a:rPr lang="it-IT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K</a:t>
            </a:r>
            <a:r>
              <a:rPr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-NN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it-IT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Albero decisionale</a:t>
            </a:r>
            <a:endParaRPr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it-IT"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Ricerca del modello migliore</a:t>
            </a:r>
            <a:r>
              <a:rPr lang="it-IT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, settati con gli opportuni </a:t>
            </a:r>
            <a:r>
              <a:rPr lang="it-IT" sz="18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iperparametri</a:t>
            </a:r>
            <a:r>
              <a:rPr lang="it-IT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 (scelti da una lista di </a:t>
            </a:r>
            <a:r>
              <a:rPr lang="it-IT" sz="18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iperparametri</a:t>
            </a:r>
            <a:r>
              <a:rPr lang="it-IT" sz="18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it-IT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 tramite </a:t>
            </a:r>
            <a:r>
              <a:rPr lang="it-IT" sz="18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GridSearchCV</a:t>
            </a:r>
            <a:endParaRPr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sz="18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Valutazione</a:t>
            </a:r>
            <a:r>
              <a:rPr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b="1" dirty="0">
                <a:latin typeface="Verdana" panose="020B0604030504040204" pitchFamily="34" charset="0"/>
                <a:ea typeface="Verdana" panose="020B0604030504040204" pitchFamily="34" charset="0"/>
              </a:rPr>
              <a:t>finale </a:t>
            </a:r>
            <a:r>
              <a:rPr sz="18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su</a:t>
            </a:r>
            <a:r>
              <a:rPr lang="it-IT"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</a:t>
            </a:r>
            <a:r>
              <a:rPr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b="1" dirty="0">
                <a:latin typeface="Verdana" panose="020B0604030504040204" pitchFamily="34" charset="0"/>
                <a:ea typeface="Verdana" panose="020B0604030504040204" pitchFamily="34" charset="0"/>
              </a:rPr>
              <a:t>test set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del modello migliore</a:t>
            </a:r>
            <a:endParaRPr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60" y="1123836"/>
            <a:ext cx="2443783" cy="4601183"/>
          </a:xfrm>
        </p:spPr>
        <p:txBody>
          <a:bodyPr/>
          <a:lstStyle/>
          <a:p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Metodologia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it-IT" sz="3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Preparazione del </a:t>
            </a:r>
            <a:r>
              <a:rPr lang="it-IT" sz="36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endParaRPr lang="it-IT" sz="3600" b="1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Caricamento</a:t>
            </a:r>
            <a:r>
              <a:rPr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dati del </a:t>
            </a:r>
            <a:r>
              <a:rPr lang="it-IT"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su liste di esempi e target di training. </a:t>
            </a:r>
          </a:p>
          <a:p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Unione degli elementi della lista in un unico </a:t>
            </a:r>
            <a:r>
              <a:rPr lang="it-IT"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per il training (fatto per gli esempi e per i target)</a:t>
            </a:r>
          </a:p>
          <a:p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Caricamento dati per il test (sia esempi che target)</a:t>
            </a:r>
          </a:p>
          <a:p>
            <a:r>
              <a:rPr lang="it-IT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  <a:r>
              <a:rPr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ormalizzazione</a:t>
            </a:r>
            <a:r>
              <a:rPr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immagini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(per avere valori compresi tra 0 ed 1)</a:t>
            </a:r>
          </a:p>
          <a:p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Unisco il </a:t>
            </a:r>
            <a:r>
              <a:rPr lang="it-IT"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composto dai dati di training e di test (li dividerò diversamente dopo) sia per gli esempi che per i target</a:t>
            </a:r>
          </a:p>
          <a:p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Partizionamento del </a:t>
            </a:r>
            <a:r>
              <a:rPr lang="it-IT"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a 10000 campioni 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(visto 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l’elevata 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complessità computazionale dovuta alla </a:t>
            </a:r>
            <a:r>
              <a:rPr lang="it-IT"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GridSearchCV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per la ricerca dei migliori </a:t>
            </a:r>
            <a:r>
              <a:rPr lang="it-IT"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iperparametri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) mantenendo inalterate le proporzioni di distribuzione delle classi nel </a:t>
            </a:r>
            <a:r>
              <a:rPr lang="it-IT"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endParaRPr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Divisione </a:t>
            </a:r>
            <a:r>
              <a:rPr lang="it-IT" sz="32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unito e partizionato </a:t>
            </a:r>
            <a:r>
              <a:rPr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in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: t</a:t>
            </a:r>
            <a:r>
              <a:rPr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raining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set ,</a:t>
            </a:r>
            <a:r>
              <a:rPr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validation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set</a:t>
            </a:r>
            <a:r>
              <a:rPr lang="it-IT" sz="3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test</a:t>
            </a:r>
            <a:r>
              <a:rPr lang="it-IT" sz="3200" dirty="0" smtClean="0">
                <a:latin typeface="Verdana" panose="020B0604030504040204" pitchFamily="34" charset="0"/>
                <a:ea typeface="Verdana" panose="020B0604030504040204" pitchFamily="34" charset="0"/>
              </a:rPr>
              <a:t> set , secondo le proporzioni 80/10/10</a:t>
            </a:r>
            <a:endParaRPr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1123838"/>
            <a:ext cx="2500885" cy="4601183"/>
          </a:xfrm>
        </p:spPr>
        <p:txBody>
          <a:bodyPr/>
          <a:lstStyle/>
          <a:p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Metodologia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Ricerca del modello migliore</a:t>
            </a:r>
          </a:p>
          <a:p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Preparazione del </a:t>
            </a:r>
            <a:r>
              <a:rPr lang="it-IT" sz="1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GridSearchCV</a:t>
            </a:r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: creazione dizionario </a:t>
            </a:r>
            <a:r>
              <a:rPr lang="it-IT" sz="1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param_grid</a:t>
            </a:r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 contenente, per ogni modello, una lista di </a:t>
            </a:r>
            <a:r>
              <a:rPr lang="it-IT" sz="1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iperparametri</a:t>
            </a:r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 possibili</a:t>
            </a:r>
          </a:p>
          <a:p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Per ogni famiglia di modelli: </a:t>
            </a:r>
          </a:p>
          <a:p>
            <a:pPr lvl="1"/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alleniamo il singolo modello: </a:t>
            </a:r>
          </a:p>
          <a:p>
            <a:pPr lvl="2"/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tramite </a:t>
            </a:r>
            <a:r>
              <a:rPr lang="it-IT" sz="1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GridSearchCV</a:t>
            </a:r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, viene fatta cross </a:t>
            </a:r>
            <a:r>
              <a:rPr lang="it-IT" sz="1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validation</a:t>
            </a:r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, con k-</a:t>
            </a:r>
            <a:r>
              <a:rPr lang="it-IT" sz="1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fold</a:t>
            </a:r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=3, viene scelto il modello della stessa famiglia con gli </a:t>
            </a:r>
            <a:r>
              <a:rPr lang="it-IT" sz="1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iperparametri</a:t>
            </a:r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 che massimizzano la metrica scelta (accuratezza)</a:t>
            </a:r>
          </a:p>
          <a:p>
            <a:pPr lvl="1"/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Calcolo accuratezza del modello scelto in precedenza sulle predizioni che fa sul </a:t>
            </a:r>
            <a:r>
              <a:rPr lang="it-IT" sz="1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validation</a:t>
            </a:r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 set</a:t>
            </a:r>
          </a:p>
          <a:p>
            <a:pPr lvl="1"/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Confronto l’accuratezza ottenuta dal suddetto modello, con la migliore accuratezza ottenuta fino a quel momento dalle altre famiglie di modelli</a:t>
            </a:r>
          </a:p>
          <a:p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Ho il modello, settato con i suoi </a:t>
            </a:r>
            <a:r>
              <a:rPr lang="it-IT" sz="1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iperparametri</a:t>
            </a:r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, che ha maggior accuratezza sul </a:t>
            </a:r>
            <a:r>
              <a:rPr lang="it-IT" sz="1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validation</a:t>
            </a:r>
            <a:r>
              <a:rPr lang="it-IT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 set</a:t>
            </a:r>
          </a:p>
        </p:txBody>
      </p:sp>
    </p:spTree>
    <p:extLst>
      <p:ext uri="{BB962C8B-B14F-4D97-AF65-F5344CB8AC3E}">
        <p14:creationId xmlns:p14="http://schemas.microsoft.com/office/powerpoint/2010/main" val="1061752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9437" y="1123838"/>
            <a:ext cx="2491741" cy="4601183"/>
          </a:xfrm>
        </p:spPr>
        <p:txBody>
          <a:bodyPr/>
          <a:lstStyle/>
          <a:p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Metodologia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Risultati del modello migliore</a:t>
            </a:r>
          </a:p>
          <a:p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Unisco il training e </a:t>
            </a:r>
            <a:r>
              <a:rPr lang="it-IT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validation</a:t>
            </a:r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 set</a:t>
            </a:r>
          </a:p>
          <a:p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Rialleno il modello sul nuovo </a:t>
            </a:r>
            <a:r>
              <a:rPr lang="it-IT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train_val</a:t>
            </a:r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 set</a:t>
            </a:r>
          </a:p>
          <a:p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Calcolo l’accuratezza del modello scelto sul test set</a:t>
            </a:r>
          </a:p>
          <a:p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Visualizzo il </a:t>
            </a:r>
            <a:r>
              <a:rPr lang="it-IT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Classification</a:t>
            </a:r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 report del modello sempre sul test set</a:t>
            </a:r>
          </a:p>
          <a:p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Visualizzo graficamente la matrice di confusione del modello scelto</a:t>
            </a:r>
          </a:p>
        </p:txBody>
      </p:sp>
    </p:spTree>
    <p:extLst>
      <p:ext uri="{BB962C8B-B14F-4D97-AF65-F5344CB8AC3E}">
        <p14:creationId xmlns:p14="http://schemas.microsoft.com/office/powerpoint/2010/main" val="215330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5680" y="1123838"/>
            <a:ext cx="2297479" cy="4601183"/>
          </a:xfrm>
        </p:spPr>
        <p:txBody>
          <a:bodyPr/>
          <a:lstStyle/>
          <a:p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Risultati Validazione</a:t>
            </a:r>
          </a:p>
        </p:txBody>
      </p:sp>
      <p:graphicFrame>
        <p:nvGraphicFramePr>
          <p:cNvPr id="4" name="Segnaposto contenut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228712"/>
              </p:ext>
            </p:extLst>
          </p:nvPr>
        </p:nvGraphicFramePr>
        <p:xfrm>
          <a:off x="2901950" y="863600"/>
          <a:ext cx="5486400" cy="559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Modello </a:t>
                      </a:r>
                      <a:endParaRPr lang="it-IT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  <a:tc>
                  <a:txBody>
                    <a:bodyPr/>
                    <a:lstStyle/>
                    <a:p>
                      <a:r>
                        <a:rPr lang="it-IT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Parametri </a:t>
                      </a:r>
                      <a:endParaRPr lang="it-IT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  <a:tc>
                  <a:txBody>
                    <a:bodyPr/>
                    <a:lstStyle/>
                    <a:p>
                      <a:r>
                        <a:rPr lang="it-IT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Accuratezza su </a:t>
                      </a:r>
                      <a:r>
                        <a:rPr lang="it-IT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validation</a:t>
                      </a:r>
                      <a:r>
                        <a:rPr lang="it-IT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set</a:t>
                      </a:r>
                      <a:endParaRPr lang="it-IT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Regressione Logistica 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  <a:tc>
                  <a:txBody>
                    <a:bodyPr/>
                    <a:lstStyle/>
                    <a:p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{'C': 0.1, 'solver': '</a:t>
                      </a:r>
                      <a:r>
                        <a:rPr lang="it-IT" sz="16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liblinear</a:t>
                      </a:r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'}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  <a:tc>
                  <a:txBody>
                    <a:bodyPr/>
                    <a:lstStyle/>
                    <a:p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0.3670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SVM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  <a:tc>
                  <a:txBody>
                    <a:bodyPr/>
                    <a:lstStyle/>
                    <a:p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{'C': 10, '</a:t>
                      </a:r>
                      <a:r>
                        <a:rPr lang="it-IT" sz="16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kernel</a:t>
                      </a:r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': '</a:t>
                      </a:r>
                      <a:r>
                        <a:rPr lang="it-IT" sz="16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rbf</a:t>
                      </a:r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'}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  <a:tc>
                  <a:txBody>
                    <a:bodyPr/>
                    <a:lstStyle/>
                    <a:p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0.4690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K-NN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  <a:tc>
                  <a:txBody>
                    <a:bodyPr/>
                    <a:lstStyle/>
                    <a:p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{'</a:t>
                      </a:r>
                      <a:r>
                        <a:rPr lang="it-IT" sz="15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metric</a:t>
                      </a:r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': '</a:t>
                      </a:r>
                      <a:r>
                        <a:rPr lang="it-IT" sz="15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manhattan</a:t>
                      </a:r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', '</a:t>
                      </a:r>
                      <a:r>
                        <a:rPr lang="it-IT" sz="15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n_neighbors</a:t>
                      </a:r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': 7, '</a:t>
                      </a:r>
                      <a:r>
                        <a:rPr lang="it-IT" sz="15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weights</a:t>
                      </a:r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': '</a:t>
                      </a:r>
                      <a:r>
                        <a:rPr lang="it-IT" sz="15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distance</a:t>
                      </a:r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'}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  <a:tc>
                  <a:txBody>
                    <a:bodyPr/>
                    <a:lstStyle/>
                    <a:p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0.3160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</a:tr>
              <a:tr h="1943608">
                <a:tc>
                  <a:txBody>
                    <a:bodyPr/>
                    <a:lstStyle/>
                    <a:p>
                      <a:r>
                        <a:rPr lang="it-IT" sz="15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Albero Decisionale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  <a:tc>
                  <a:txBody>
                    <a:bodyPr/>
                    <a:lstStyle/>
                    <a:p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{'</a:t>
                      </a:r>
                      <a:r>
                        <a:rPr lang="it-IT" sz="16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criterion</a:t>
                      </a:r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': '</a:t>
                      </a:r>
                      <a:r>
                        <a:rPr lang="it-IT" sz="16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gini</a:t>
                      </a:r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', '</a:t>
                      </a:r>
                      <a:r>
                        <a:rPr lang="it-IT" sz="16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max_depth</a:t>
                      </a:r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': 10, '</a:t>
                      </a:r>
                      <a:r>
                        <a:rPr lang="it-IT" sz="16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min_samples_leaf</a:t>
                      </a:r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': 1, '</a:t>
                      </a:r>
                      <a:r>
                        <a:rPr lang="it-IT" sz="16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min_samples_split</a:t>
                      </a:r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': 2}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  <a:tc>
                  <a:txBody>
                    <a:bodyPr/>
                    <a:lstStyle/>
                    <a:p>
                      <a:r>
                        <a:rPr lang="it-IT" sz="16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0.2630</a:t>
                      </a:r>
                      <a:endParaRPr lang="it-IT" sz="15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0960" marR="6096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005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Miglior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Modello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-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Risultati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Finali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951" y="864108"/>
            <a:ext cx="5486400" cy="736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Modello</a:t>
            </a:r>
            <a:r>
              <a:rPr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dirty="0" err="1">
                <a:latin typeface="Verdana" panose="020B0604030504040204" pitchFamily="34" charset="0"/>
                <a:ea typeface="Verdana" panose="020B0604030504040204" pitchFamily="34" charset="0"/>
              </a:rPr>
              <a:t>selezionato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SVM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876" y="1600200"/>
            <a:ext cx="5164836" cy="43671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7" r="6016"/>
          <a:stretch/>
        </p:blipFill>
        <p:spPr>
          <a:xfrm>
            <a:off x="2581777" y="731520"/>
            <a:ext cx="6178176" cy="5458967"/>
          </a:xfr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>
                <a:latin typeface="Verdana" panose="020B0604030504040204" pitchFamily="34" charset="0"/>
                <a:ea typeface="Verdana" panose="020B0604030504040204" pitchFamily="34" charset="0"/>
              </a:rPr>
              <a:t>Matrice di confusione</a:t>
            </a:r>
            <a:endParaRPr lang="it-IT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922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36" y="1123836"/>
            <a:ext cx="2297479" cy="4601183"/>
          </a:xfrm>
        </p:spPr>
        <p:txBody>
          <a:bodyPr/>
          <a:lstStyle/>
          <a:p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Conclusioni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I </a:t>
            </a:r>
            <a:r>
              <a:rPr sz="2400" dirty="0" err="1">
                <a:latin typeface="Verdana" panose="020B0604030504040204" pitchFamily="34" charset="0"/>
                <a:ea typeface="Verdana" panose="020B0604030504040204" pitchFamily="34" charset="0"/>
              </a:rPr>
              <a:t>modelli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considerati </a:t>
            </a:r>
            <a:r>
              <a:rPr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hanno</a:t>
            </a:r>
            <a:r>
              <a:rPr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prestazioni</a:t>
            </a:r>
            <a:r>
              <a:rPr sz="2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limitate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su</a:t>
            </a:r>
            <a:r>
              <a:rPr lang="it-IT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 </a:t>
            </a:r>
            <a:r>
              <a:rPr lang="it-IT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r>
              <a:rPr lang="it-IT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CIFAR10</a:t>
            </a:r>
            <a:endParaRPr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SVM</a:t>
            </a:r>
            <a:r>
              <a:rPr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ha </a:t>
            </a:r>
            <a:r>
              <a:rPr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ottenuto</a:t>
            </a:r>
            <a:r>
              <a:rPr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migliori</a:t>
            </a:r>
            <a:r>
              <a:rPr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risultati</a:t>
            </a:r>
            <a:endParaRPr sz="2400" b="1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nice">
  <a:themeElements>
    <a:clrScheme name="Cornic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ornic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ornic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Cornice</Template>
  <TotalTime>328</TotalTime>
  <Words>537</Words>
  <Application>Microsoft Office PowerPoint</Application>
  <PresentationFormat>Presentazione su schermo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Corbel</vt:lpstr>
      <vt:lpstr>Verdana</vt:lpstr>
      <vt:lpstr>Wingdings 2</vt:lpstr>
      <vt:lpstr>Cornice</vt:lpstr>
      <vt:lpstr>Classificazione CIFAR-10 con modelli di Machine Learning</vt:lpstr>
      <vt:lpstr>Descrizione del Dataset</vt:lpstr>
      <vt:lpstr>CIFAR10</vt:lpstr>
      <vt:lpstr>Obiettivo del Progetto</vt:lpstr>
      <vt:lpstr>Metodologia</vt:lpstr>
      <vt:lpstr>Metodologia</vt:lpstr>
      <vt:lpstr>Metodologia</vt:lpstr>
      <vt:lpstr>Risultati Validazione</vt:lpstr>
      <vt:lpstr>Miglior Modello - Risultati Finali</vt:lpstr>
      <vt:lpstr>Matrice di confusione</vt:lpstr>
      <vt:lpstr>Conclusioni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Classificazione CIFAR-10 con modelli classici di Machine Learning</dc:title>
  <dc:subject/>
  <dc:creator/>
  <cp:keywords/>
  <dc:description>generated using python-pptx</dc:description>
  <cp:lastModifiedBy>oscartorrisi72@outlook.it</cp:lastModifiedBy>
  <cp:revision>30</cp:revision>
  <dcterms:created xsi:type="dcterms:W3CDTF">2013-01-27T09:14:16Z</dcterms:created>
  <dcterms:modified xsi:type="dcterms:W3CDTF">2025-05-01T07:36:57Z</dcterms:modified>
  <cp:category/>
</cp:coreProperties>
</file>